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560320"/>
            <a:ext cx="6400800" cy="6400800"/>
          </a:xfrm>
          <a:prstGeom prst="ellipse">
            <a:avLst/>
          </a:prstGeom>
          <a:solidFill>
            <a:srgbClr val="3C348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3200400"/>
            <a:ext cx="5486400" cy="5486400"/>
          </a:xfrm>
          <a:prstGeom prst="ellipse">
            <a:avLst/>
          </a:prstGeom>
          <a:solidFill>
            <a:srgbClr val="534AB7">
              <a:alpha val="18000"/>
            </a:srgbClr>
          </a:solidFill>
          <a:ln/>
        </p:spPr>
      </p:sp>
      <p:pic>
        <p:nvPicPr>
          <p:cNvPr id="4" name="Image 0" descr="D:\Sistemas\Lia\assets\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0048" y="502920"/>
            <a:ext cx="1371600" cy="137160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196596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spc="6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0" y="2487168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Personal Inteligente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80160" y="306324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LIA, ASISTENTE PERSONAL INTELIGENTE PARA LA DIGITALIZACIÓN DE LAS FUNCIONES DEL SECRETARIADO EJECUTIVO MEDIANTE INTELIGENCIA ARTIFICIAL CONVERSACIONAL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INNOVACIÓN TECNOLÓGICA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Gustavo Ugarte  •  Secretariado Ejecutivo Intermedio  •  [Institución]  • 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CONTENIDO DE LA PRESENTACIÓN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72768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544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 de la innovación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572768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09360" y="1572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155448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139696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2139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1214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Población beneficiaria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2139696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21396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21214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de diseño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2706624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26883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Tecnologías y metodología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2706624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27066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12280" y="268833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Costos de diseño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" y="3273552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2960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325526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comercialización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309360" y="3273552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09360" y="3273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812280" y="325526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" y="3840480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38221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 competidoras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309360" y="3840480"/>
            <a:ext cx="365760" cy="36576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309360" y="3840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82219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Estrategias, conclusiones y recomendaciones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777240" cy="77724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2815" y="1901495"/>
            <a:ext cx="357530" cy="35753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inteligencia artificial ya transforma la vida cotidiana. ¿Por qué no también el trabajo secretarial?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822960" y="3090672"/>
            <a:ext cx="109728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143000" y="301752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gestión de agendas y pendientes sigue apoyándose en formularios y menús tradicionales.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959352"/>
            <a:ext cx="109728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43000" y="388620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 fricción provoca pendientes olvidados o registrados fuera de tiempo.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22960" y="4828032"/>
            <a:ext cx="109728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43000" y="475488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 fusiona el conocimiento del secretariado ejecutivo con inteligencia artificial conversacional.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JUSTIFICACIÓN DE LA INNOVACIÓN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965960"/>
            <a:ext cx="640080" cy="64008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0102" y="2138782"/>
            <a:ext cx="294437" cy="29443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920240" y="1947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97280" y="2560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herramientas tradicionales exigen formularios y menús: pendientes olvidados o registrados tarde.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16916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766560" y="1965960"/>
            <a:ext cx="640080" cy="64008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382" y="2138782"/>
            <a:ext cx="294437" cy="2944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589520" y="1947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 con IA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766560" y="2560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 interpreta el lenguaje natural y ejecuta acciones reales, no solo genera texto.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22960" y="39776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97280" y="4251960"/>
            <a:ext cx="640080" cy="64008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102" y="4424782"/>
            <a:ext cx="294437" cy="29443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920240" y="4233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moderna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97280" y="4846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en la nube y aplicación web progresiva, sin servidores propios que administrar.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492240" y="397764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766560" y="4251960"/>
            <a:ext cx="640080" cy="64008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9382" y="4424782"/>
            <a:ext cx="294437" cy="29443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589520" y="42336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administrado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766560" y="48463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 usuario y panel de administración, pensado para un uso real y controlado.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534A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810512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Lia, un asistente personal inteligente para la digitalización de las funciones del secretariado ejecutivo mediante inteligencia artificial conversacional.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27355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gestión de tareas con prioridad, hora exacta y recurrencia.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327355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32735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2461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capaz de crear, listar, modificar y eliminar tareas reales.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14223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142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1148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y salida de voz: dictado y lectura de respuestas.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414223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41422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41148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automáticas: resumen diario y hora exacta.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01091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010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83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administrado por roles y panel de administración.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17920" y="5010912"/>
            <a:ext cx="256032" cy="256032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217920" y="5010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1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9834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Contactos, notas de reunión, caja chica y correspondencia formal.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POBLACIÓN BENEFICIARIA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68780" y="201168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0979" y="2233879"/>
            <a:ext cx="378562" cy="378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3474720"/>
            <a:ext cx="21122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Ejecutivos, profesionales independientes y secretariado ejecutivo.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93592" y="169164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39412" y="201168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611" y="2233879"/>
            <a:ext cx="378562" cy="3785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93592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Indirectos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94760" y="3474720"/>
            <a:ext cx="21122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y organizaciones que dependen de quien usa Lia.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364224" y="169164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210044" y="201168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243" y="2233879"/>
            <a:ext cx="378562" cy="37856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4224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Académica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565392" y="3474720"/>
            <a:ext cx="21122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Estudiantes y egresados de secretariado ejecutivo.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9134856" y="1691640"/>
            <a:ext cx="2514600" cy="3566160"/>
          </a:xfrm>
          <a:prstGeom prst="roundRect">
            <a:avLst>
              <a:gd name="adj" fmla="val 2909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980676" y="201168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2875" y="2233879"/>
            <a:ext cx="378562" cy="37856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34856" y="301752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Crecimiento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336024" y="3474720"/>
            <a:ext cx="211226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usuario individual a equipos y oficinas completas.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DE DISEÑO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del usuario — cuatro pantallas principales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44956" y="1435608"/>
            <a:ext cx="2295144" cy="4332065"/>
          </a:xfrm>
          <a:prstGeom prst="roundRect">
            <a:avLst>
              <a:gd name="adj" fmla="val 5976"/>
            </a:avLst>
          </a:prstGeom>
          <a:solidFill>
            <a:srgbClr val="15122B"/>
          </a:solidFill>
          <a:ln/>
        </p:spPr>
      </p:sp>
      <p:pic>
        <p:nvPicPr>
          <p:cNvPr id="5" name="Image 0" descr="D:\Sistemas\Lia\assets\pantalla-inic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8108" y="1508760"/>
            <a:ext cx="2148840" cy="418576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44956" y="5859113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713836" y="1435608"/>
            <a:ext cx="2295144" cy="4332065"/>
          </a:xfrm>
          <a:prstGeom prst="roundRect">
            <a:avLst>
              <a:gd name="adj" fmla="val 5976"/>
            </a:avLst>
          </a:prstGeom>
          <a:solidFill>
            <a:srgbClr val="15122B"/>
          </a:solidFill>
          <a:ln/>
        </p:spPr>
      </p:sp>
      <p:pic>
        <p:nvPicPr>
          <p:cNvPr id="8" name="Image 1" descr="D:\Sistemas\Lia\assets\pantalla-ch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988" y="1508760"/>
            <a:ext cx="2148840" cy="41857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13836" y="5859113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182716" y="1435608"/>
            <a:ext cx="2295144" cy="4332065"/>
          </a:xfrm>
          <a:prstGeom prst="roundRect">
            <a:avLst>
              <a:gd name="adj" fmla="val 5976"/>
            </a:avLst>
          </a:prstGeom>
          <a:solidFill>
            <a:srgbClr val="15122B"/>
          </a:solidFill>
          <a:ln/>
        </p:spPr>
      </p:sp>
      <p:pic>
        <p:nvPicPr>
          <p:cNvPr id="11" name="Image 2" descr="D:\Sistemas\Lia\assets\pantalla-tarea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5868" y="1508760"/>
            <a:ext cx="2148840" cy="4185761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182716" y="5859113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8651596" y="1435608"/>
            <a:ext cx="2295144" cy="4332065"/>
          </a:xfrm>
          <a:prstGeom prst="roundRect">
            <a:avLst>
              <a:gd name="adj" fmla="val 5976"/>
            </a:avLst>
          </a:prstGeom>
          <a:solidFill>
            <a:srgbClr val="15122B"/>
          </a:solidFill>
          <a:ln/>
        </p:spPr>
      </p:sp>
      <p:pic>
        <p:nvPicPr>
          <p:cNvPr id="14" name="Image 3" descr="D:\Sistemas\Lia\assets\pantalla-ma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748" y="1508760"/>
            <a:ext cx="2148840" cy="418576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51596" y="5859113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DE DISEÑO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interacción con Lia</a:t>
            </a:r>
            <a:endParaRPr lang="en-US" sz="1400" dirty="0"/>
          </a:p>
        </p:txBody>
      </p:sp>
      <p:pic>
        <p:nvPicPr>
          <p:cNvPr id="4" name="Image 0" descr="D:\Sistemas\Lia\assets\flujo-interac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783080"/>
            <a:ext cx="10972800" cy="438128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ALMACENAMIENTO Y NOTIFICACIONES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49808" y="1618488"/>
            <a:ext cx="1975104" cy="3928595"/>
          </a:xfrm>
          <a:prstGeom prst="roundRect">
            <a:avLst>
              <a:gd name="adj" fmla="val 5556"/>
            </a:avLst>
          </a:prstGeom>
          <a:solidFill>
            <a:srgbClr val="15122B"/>
          </a:solidFill>
          <a:ln/>
        </p:spPr>
      </p:sp>
      <p:pic>
        <p:nvPicPr>
          <p:cNvPr id="4" name="Image 0" descr="D:\Sistemas\Lia\assets\supabase-tabl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91640"/>
            <a:ext cx="1828800" cy="37822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49808" y="5611091"/>
            <a:ext cx="1975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real de Lia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91840" y="1691640"/>
            <a:ext cx="548640" cy="54864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9973" y="1839773"/>
            <a:ext cx="252374" cy="25237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977640" y="16733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independientes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977640" y="2011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Tareas, contactos, notas, gastos, usuarios y mensajes, cada una separada por tipo de información.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291840" y="2834640"/>
            <a:ext cx="548640" cy="54864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9973" y="2982773"/>
            <a:ext cx="252374" cy="25237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977640" y="28163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restringido por fila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3977640" y="3154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usuario solo ve y modifica sus propios registros, sin excepción.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3291840" y="3977640"/>
            <a:ext cx="548640" cy="54864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973" y="4125773"/>
            <a:ext cx="252374" cy="25237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977640" y="395935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tipos de aviso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3977640" y="42976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 de pendientes y notificación exacta a la hora solicitada.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TECNOLOGÍAS UTILIZADAS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8680" y="169164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196596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3839" y="2188159"/>
            <a:ext cx="378562" cy="3785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0584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 / JS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566160" y="169164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389120" y="196596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1319" y="2188159"/>
            <a:ext cx="378562" cy="3785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70332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263640" y="169164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086600" y="196596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799" y="2188159"/>
            <a:ext cx="378562" cy="3785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0080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961120" y="169164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784080" y="196596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6279" y="2188159"/>
            <a:ext cx="378562" cy="37856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098280" y="29260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Claude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868680" y="406908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1691640" y="434340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3839" y="4565599"/>
            <a:ext cx="378562" cy="37856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00584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Speech API</a:t>
            </a:r>
            <a:endParaRPr lang="en-US" sz="1300" dirty="0"/>
          </a:p>
        </p:txBody>
      </p:sp>
      <p:sp>
        <p:nvSpPr>
          <p:cNvPr id="23" name="Shape 16"/>
          <p:cNvSpPr/>
          <p:nvPr/>
        </p:nvSpPr>
        <p:spPr>
          <a:xfrm>
            <a:off x="3566160" y="406908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4389120" y="434340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1319" y="4565599"/>
            <a:ext cx="378562" cy="37856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70332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</a:t>
            </a:r>
            <a:endParaRPr lang="en-US" sz="1300" dirty="0"/>
          </a:p>
        </p:txBody>
      </p:sp>
      <p:sp>
        <p:nvSpPr>
          <p:cNvPr id="27" name="Shape 19"/>
          <p:cNvSpPr/>
          <p:nvPr/>
        </p:nvSpPr>
        <p:spPr>
          <a:xfrm>
            <a:off x="6263640" y="406908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7086600" y="434340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799" y="4565599"/>
            <a:ext cx="378562" cy="378562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40080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pg_cron</a:t>
            </a:r>
            <a:endParaRPr lang="en-US" sz="1300" dirty="0"/>
          </a:p>
        </p:txBody>
      </p:sp>
      <p:sp>
        <p:nvSpPr>
          <p:cNvPr id="31" name="Shape 22"/>
          <p:cNvSpPr/>
          <p:nvPr/>
        </p:nvSpPr>
        <p:spPr>
          <a:xfrm>
            <a:off x="8961120" y="4069080"/>
            <a:ext cx="2468880" cy="2103120"/>
          </a:xfrm>
          <a:prstGeom prst="roundRect">
            <a:avLst>
              <a:gd name="adj" fmla="val 34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9784080" y="4343400"/>
            <a:ext cx="822960" cy="82296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6279" y="4565599"/>
            <a:ext cx="378562" cy="37856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9098280" y="5303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GitHub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822960" y="6492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Asistente de código con IA, dirigido en cada decisión de desarrollo.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DESARROLLO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iterativo, dirigido y validado en cada etapa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138428" y="2720340"/>
            <a:ext cx="9921240" cy="0"/>
          </a:xfrm>
          <a:prstGeom prst="line">
            <a:avLst/>
          </a:prstGeom>
          <a:noFill/>
          <a:ln w="38100">
            <a:solidFill>
              <a:srgbClr val="E4E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552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9552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 de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1284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1284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89280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3016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3016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31012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4748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4748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72744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Voz: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dictado 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6480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88212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88212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56208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Rediseño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29944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29944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897940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secretariales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0716768" y="2377440"/>
            <a:ext cx="685800" cy="685800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716768" y="2377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10396728" y="3200400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proyecto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COSTOS DE DISEÑO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34A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12.400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 de obra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34840" y="164592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34A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6.200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046720" y="1645920"/>
            <a:ext cx="3291840" cy="1737360"/>
          </a:xfrm>
          <a:prstGeom prst="roundRect">
            <a:avLst>
              <a:gd name="adj" fmla="val 4211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874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34A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398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697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Funcionamiento / mes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749040"/>
            <a:ext cx="10515600" cy="1051560"/>
          </a:xfrm>
          <a:prstGeom prst="roundRect">
            <a:avLst>
              <a:gd name="adj" fmla="val 6957"/>
            </a:avLst>
          </a:prstGeom>
          <a:solidFill>
            <a:srgbClr val="534AB7"/>
          </a:solidFill>
          <a:ln/>
        </p:spPr>
      </p:sp>
      <p:sp>
        <p:nvSpPr>
          <p:cNvPr id="13" name="Shape 11"/>
          <p:cNvSpPr/>
          <p:nvPr/>
        </p:nvSpPr>
        <p:spPr>
          <a:xfrm>
            <a:off x="1051560" y="3941064"/>
            <a:ext cx="658368" cy="658368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9319" y="4118823"/>
            <a:ext cx="302849" cy="302849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920240" y="3977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Inversión inicial total: Bs 18.998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de mano de obra, materiales y funcionamiento mensual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MERCADO DE COMERCIALIZACIÓN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suscripción mensual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3291840" cy="4206240"/>
          </a:xfrm>
          <a:prstGeom prst="roundRect">
            <a:avLst>
              <a:gd name="adj" fmla="val 27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134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49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 usuario individual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Tareas, voz y texto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3342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Notificaciones oportunas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1600200"/>
            <a:ext cx="3291840" cy="4206240"/>
          </a:xfrm>
          <a:prstGeom prst="roundRect">
            <a:avLst>
              <a:gd name="adj" fmla="val 2778"/>
            </a:avLst>
          </a:prstGeom>
          <a:solidFill>
            <a:srgbClr val="534AB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3484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3134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199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Hasta 5 usuarios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Todo lo de Personal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43342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Panel de administración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1600200"/>
            <a:ext cx="3291840" cy="4206240"/>
          </a:xfrm>
          <a:prstGeom prst="roundRect">
            <a:avLst>
              <a:gd name="adj" fmla="val 2778"/>
            </a:avLst>
          </a:prstGeom>
          <a:solidFill>
            <a:srgbClr val="F5F3FC"/>
          </a:solidFill>
          <a:ln w="12700">
            <a:solidFill>
              <a:srgbClr val="E4E0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0" y="1920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0" y="23134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convenir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Organizaciones grandes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37673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Todo lo de Oficina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433425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Soporte dedicado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BENEFICIOS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57400" y="1737360"/>
            <a:ext cx="914400" cy="91440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4288" y="1984248"/>
            <a:ext cx="420624" cy="42062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el usuario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960120" y="34290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pendientes olvidados, dictado por voz y notificaciones oportunas sin revisar la app.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696712" y="1737360"/>
            <a:ext cx="914400" cy="91440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984248"/>
            <a:ext cx="420624" cy="4206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462272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las organizaciones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599432" y="34290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administrativa sin contratar personal adicional, con acceso administrado.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336024" y="1737360"/>
            <a:ext cx="914400" cy="91440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2912" y="198424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01584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Económicos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38744" y="342900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E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más económica que contratar personal, y menos costos por pendientes perdidos.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EMPRESAS COMPETIDORAS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91640"/>
          <a:ext cx="10515600" cy="4206240"/>
        </p:xfrm>
        <a:graphic>
          <a:graphicData uri="http://schemas.openxmlformats.org/drawingml/2006/table">
            <a:tbl>
              <a:tblPr/>
              <a:tblGrid>
                <a:gridCol w="3291840"/>
                <a:gridCol w="2926080"/>
                <a:gridCol w="4297680"/>
              </a:tblGrid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Limitación frente a Lia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22B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Tasks / MS To Do / Todoist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de tareas tradicional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Formularios y menús; no interpreta lenguaje natural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Siri / Google Assistant / Alexa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 de voz genérico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gestiona agenda ni administra usuarios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Motion / Reclaim.ai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con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el calendario, no conversa; más caro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4AB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Asistente conversacional secretarial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4AB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Conversación, acceso administrado y trato formal, bajo costo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0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34AB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ESTRATEGIAS Y PROYECCIONES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508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 DE MEJORA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502920" cy="5029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2056028"/>
            <a:ext cx="231343" cy="2313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9385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presentación (landing page)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22960" y="2560320"/>
            <a:ext cx="502920" cy="5029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748" y="2696108"/>
            <a:ext cx="231343" cy="231343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786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Google Calendar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822960" y="3200400"/>
            <a:ext cx="502920" cy="5029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336188"/>
            <a:ext cx="231343" cy="23134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32186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Redacción ampliada de correspondencia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822960" y="3840480"/>
            <a:ext cx="502920" cy="5029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748" y="3976268"/>
            <a:ext cx="231343" cy="23134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3858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tienda de aplicaciones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748" y="4616348"/>
            <a:ext cx="231343" cy="231343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463040" y="44988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voces regionales</a:t>
            </a:r>
            <a:endParaRPr lang="en-US" sz="1250" dirty="0"/>
          </a:p>
        </p:txBody>
      </p:sp>
      <p:sp>
        <p:nvSpPr>
          <p:cNvPr id="19" name="Text 12"/>
          <p:cNvSpPr txBox="1"/>
          <p:nvPr/>
        </p:nvSpPr>
        <p:spPr>
          <a:xfrm>
            <a:off x="6400800" y="1508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PROYECCIONES</a:t>
            </a:r>
            <a:endParaRPr lang="en-US" sz="1200" dirty="0"/>
          </a:p>
        </p:txBody>
      </p:sp>
      <p:sp>
        <p:nvSpPr>
          <p:cNvPr id="20" name="Shape 13"/>
          <p:cNvSpPr/>
          <p:nvPr/>
        </p:nvSpPr>
        <p:spPr>
          <a:xfrm>
            <a:off x="6400800" y="1920240"/>
            <a:ext cx="502920" cy="502920"/>
          </a:xfrm>
          <a:prstGeom prst="ellipse">
            <a:avLst/>
          </a:prstGeom>
          <a:solidFill>
            <a:srgbClr val="3C3489"/>
          </a:solidFill>
          <a:ln/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6588" y="2056028"/>
            <a:ext cx="231343" cy="231343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040880" y="193852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 de infraestructura</a:t>
            </a:r>
            <a:endParaRPr lang="en-US" sz="1250" dirty="0"/>
          </a:p>
        </p:txBody>
      </p:sp>
      <p:sp>
        <p:nvSpPr>
          <p:cNvPr id="23" name="Shape 15"/>
          <p:cNvSpPr/>
          <p:nvPr/>
        </p:nvSpPr>
        <p:spPr>
          <a:xfrm>
            <a:off x="6400800" y="2560320"/>
            <a:ext cx="502920" cy="502920"/>
          </a:xfrm>
          <a:prstGeom prst="ellipse">
            <a:avLst/>
          </a:prstGeom>
          <a:solidFill>
            <a:srgbClr val="3C3489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6588" y="2696108"/>
            <a:ext cx="231343" cy="23134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040880" y="2578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 a otros países de habla hispana</a:t>
            </a:r>
            <a:endParaRPr lang="en-US" sz="1250" dirty="0"/>
          </a:p>
        </p:txBody>
      </p:sp>
      <p:sp>
        <p:nvSpPr>
          <p:cNvPr id="26" name="Shape 17"/>
          <p:cNvSpPr/>
          <p:nvPr/>
        </p:nvSpPr>
        <p:spPr>
          <a:xfrm>
            <a:off x="6400800" y="3200400"/>
            <a:ext cx="502920" cy="502920"/>
          </a:xfrm>
          <a:prstGeom prst="ellipse">
            <a:avLst/>
          </a:prstGeom>
          <a:solidFill>
            <a:srgbClr val="3C3489"/>
          </a:solidFill>
          <a:ln/>
        </p:spPr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6588" y="3336188"/>
            <a:ext cx="231343" cy="231343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7040880" y="321868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del plan institucional</a:t>
            </a:r>
            <a:endParaRPr lang="en-US" sz="1250" dirty="0"/>
          </a:p>
        </p:txBody>
      </p:sp>
      <p:sp>
        <p:nvSpPr>
          <p:cNvPr id="29" name="Shape 19"/>
          <p:cNvSpPr/>
          <p:nvPr/>
        </p:nvSpPr>
        <p:spPr>
          <a:xfrm>
            <a:off x="6400800" y="3840480"/>
            <a:ext cx="502920" cy="502920"/>
          </a:xfrm>
          <a:prstGeom prst="ellipse">
            <a:avLst/>
          </a:prstGeom>
          <a:solidFill>
            <a:srgbClr val="3C3489"/>
          </a:solidFill>
          <a:ln/>
        </p:spPr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6588" y="3976268"/>
            <a:ext cx="231343" cy="23134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7040880" y="3858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Reinversión continua en el producto</a:t>
            </a:r>
            <a:endParaRPr lang="en-US" sz="1250" dirty="0"/>
          </a:p>
        </p:txBody>
      </p:sp>
      <p:sp>
        <p:nvSpPr>
          <p:cNvPr id="32" name="Text 21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560320"/>
            <a:ext cx="6400800" cy="6400800"/>
          </a:xfrm>
          <a:prstGeom prst="ellipse">
            <a:avLst/>
          </a:prstGeom>
          <a:solidFill>
            <a:srgbClr val="3C348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3200400"/>
            <a:ext cx="5486400" cy="5486400"/>
          </a:xfrm>
          <a:prstGeom prst="ellipse">
            <a:avLst/>
          </a:prstGeom>
          <a:solidFill>
            <a:srgbClr val="534AB7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640080"/>
            <a:ext cx="914400" cy="91440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5536" y="8869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1691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48840"/>
            <a:ext cx="92656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 demuestra que es posible fusionar el conocimiento del secretariado ejecutivo con la inteligencia artificial, digitalizando funciones reales sin reemplazar el criterio profesional.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3108960" y="4032504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429000" y="39776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Innovación aplicada, no una moda tecnológica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08960" y="4581144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429000" y="45262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Viable: costos cubiertos por el modelo de suscripción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108960" y="5129784"/>
            <a:ext cx="109728" cy="109728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429000" y="50749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Diferenciada frente a toda la competencia actual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1B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748" y="1827428"/>
            <a:ext cx="231343" cy="23134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70992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una prueba piloto con usuarios reales antes de comercializar.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2532888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748" y="2668676"/>
            <a:ext cx="231343" cy="23134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2551176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el modelo de negocio (análisis legal y tributario).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3374136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48" y="3509924"/>
            <a:ext cx="231343" cy="23134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08760" y="3392424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atención constante a la seguridad y privacidad de los datos.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822960" y="4215384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748" y="4351172"/>
            <a:ext cx="231343" cy="23134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508760" y="4233672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Recoger retroalimentación de forma continua.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822960" y="5056632"/>
            <a:ext cx="502920" cy="502920"/>
          </a:xfrm>
          <a:prstGeom prst="ellipse">
            <a:avLst/>
          </a:prstGeom>
          <a:solidFill>
            <a:srgbClr val="F5A623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748" y="5192420"/>
            <a:ext cx="231343" cy="231343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50749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1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Fomentar este tipo de proyectos desde la formación en secretariado ejecutivo.</a:t>
            </a:r>
            <a:endParaRPr lang="en-US" sz="1400" dirty="0"/>
          </a:p>
        </p:txBody>
      </p:sp>
      <p:sp>
        <p:nvSpPr>
          <p:cNvPr id="18" name="Text 11"/>
          <p:cNvSpPr txBox="1"/>
          <p:nvPr/>
        </p:nvSpPr>
        <p:spPr>
          <a:xfrm>
            <a:off x="11368735" y="635508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512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560320"/>
            <a:ext cx="6400800" cy="6400800"/>
          </a:xfrm>
          <a:prstGeom prst="ellipse">
            <a:avLst/>
          </a:prstGeom>
          <a:solidFill>
            <a:srgbClr val="3C3489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76895" y="3200400"/>
            <a:ext cx="5486400" cy="5486400"/>
          </a:xfrm>
          <a:prstGeom prst="ellipse">
            <a:avLst/>
          </a:prstGeom>
          <a:solidFill>
            <a:srgbClr val="534AB7">
              <a:alpha val="18000"/>
            </a:srgbClr>
          </a:solidFill>
          <a:ln/>
        </p:spPr>
      </p:sp>
      <p:pic>
        <p:nvPicPr>
          <p:cNvPr id="4" name="Image 0" descr="D:\Sistemas\Lia\assets\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5768" y="1188720"/>
            <a:ext cx="1280160" cy="1280160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74320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lia-app  •  github.com/gustavougartecanaza-wq/lia-app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Lia — Defensa de Proyecto de Innovación Tecnológica</dc:title>
  <dc:subject>PptxGenJS Presentation</dc:subject>
  <dc:creator>Gustavo Ugarte</dc:creator>
  <cp:lastModifiedBy>Gustavo Ugarte</cp:lastModifiedBy>
  <cp:revision>1</cp:revision>
  <dcterms:created xsi:type="dcterms:W3CDTF">2026-09-13T04:54:12Z</dcterms:created>
  <dcterms:modified xsi:type="dcterms:W3CDTF">2026-09-13T04:54:12Z</dcterms:modified>
</cp:coreProperties>
</file>