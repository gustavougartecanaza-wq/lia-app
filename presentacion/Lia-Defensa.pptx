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3C348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3200400"/>
            <a:ext cx="5486400" cy="5486400"/>
          </a:xfrm>
          <a:prstGeom prst="ellipse">
            <a:avLst/>
          </a:prstGeom>
          <a:solidFill>
            <a:srgbClr val="534AB7">
              <a:alpha val="18000"/>
            </a:srgbClr>
          </a:solidFill>
          <a:ln/>
        </p:spPr>
      </p:sp>
      <p:pic>
        <p:nvPicPr>
          <p:cNvPr id="4" name="Image 0" descr="D:\Sistemas\Lia\assets\ava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502920"/>
            <a:ext cx="1371600" cy="137160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19659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0" y="248716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Personal Inteligente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06324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LIA, ASISTENTE PERSONAL INTELIGENTE PARA LA DIGITALIZACIÓN DE LAS FUNCIONES DEL SECRETARIADO EJECUTIVO MEDIANTE INTELIGENCIA ARTIFICIAL CONVERSACIONAL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INNOVACIÓN TECNOLÓGICA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Ugarte  •  Secretariado Ejecutivo Intermedio  •  [Institución]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72768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la innovación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572768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55448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139696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1214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beneficiaria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139696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1214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 diseño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2706624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68833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metodología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2706624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268833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diseño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3273552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2552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comercialización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3273552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32552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" y="3840480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38221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competidoras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3840480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8221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Estrategias, conclusiones y recomendaciones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777240" cy="77724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1901495"/>
            <a:ext cx="357530" cy="3575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16916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inteligencia artificial ya transforma la vida cotidiana. ¿Por qué no también el trabajo secretarial?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3090672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3017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agendas y pendientes sigue apoyándose en formularios y menús tradicionales.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959352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38862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fricción provoca pendientes olvidados o registrados fuera de tiempo.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828032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47548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 fusiona el conocimiento del secretariado ejecutivo con inteligencia artificial conversacional.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 DE LA INNOVACIÓN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965960"/>
            <a:ext cx="640080" cy="6400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102" y="21387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5603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tradicionales exigen formularios y menús: pendientes olvidados o registrados tarde.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9224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1965960"/>
            <a:ext cx="640080" cy="6400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382" y="213878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con IA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25603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interpreta el lenguaje natural y ejecuta acciones reales, no solo genera texto.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3977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97280" y="4251960"/>
            <a:ext cx="640080" cy="6400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102" y="442478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moderna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48463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en la nube y aplicación web progresiva, sin servidores propios que administrar.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92240" y="3977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766560" y="4251960"/>
            <a:ext cx="640080" cy="6400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382" y="4424782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administrado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48463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 y panel de administración, pensado para un uso real y controlado.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536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1051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Lia, un asistente personal inteligente para la digitalización de las funciones del secretariado ejecutivo mediante inteligencia artificial conversacional.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273552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tareas con prioridad, hora exacta y recurrencia.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3273552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capaz de crear, listar, modificar y eliminar tareas reales.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142232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14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y salida de voz: dictado y lectura de respuestas.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4142232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114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automáticas: resumen diario y hora exacta.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010912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010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83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administrado por roles y panel de administración.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5010912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0" y="5010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983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Contactos, notas de reunión, caja chica y correspondencia formal.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BENEFICIARIA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68780" y="201168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0979" y="2233879"/>
            <a:ext cx="378562" cy="378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3474720"/>
            <a:ext cx="2112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Ejecutivos, profesionales independientes y secretariado ejecutivo.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93592" y="16916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39412" y="201168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611" y="2233879"/>
            <a:ext cx="378562" cy="37856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3592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Indirectos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794760" y="3474720"/>
            <a:ext cx="2112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y organizaciones que dependen de quien usa Lia.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64224" y="16916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10044" y="201168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243" y="2233879"/>
            <a:ext cx="378562" cy="3785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64224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Académica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65392" y="3474720"/>
            <a:ext cx="2112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y egresados de secretariado ejecutivo.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134856" y="16916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980676" y="201168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2875" y="2233879"/>
            <a:ext cx="378562" cy="37856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34856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Crecimiento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36024" y="3474720"/>
            <a:ext cx="2112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usuario individual a equipos y oficinas completas.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DE DISEÑO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del usuario — cuatro pantallas principales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44956" y="1435608"/>
            <a:ext cx="2295144" cy="4332065"/>
          </a:xfrm>
          <a:prstGeom prst="roundRect">
            <a:avLst>
              <a:gd name="adj" fmla="val 5976"/>
            </a:avLst>
          </a:prstGeom>
          <a:solidFill>
            <a:srgbClr val="15122B"/>
          </a:solidFill>
          <a:ln/>
        </p:spPr>
      </p:sp>
      <p:pic>
        <p:nvPicPr>
          <p:cNvPr id="5" name="Image 0" descr="D:\Sistemas\Lia\assets\pantalla-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108" y="1508760"/>
            <a:ext cx="2148840" cy="41857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44956" y="5859113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713836" y="1435608"/>
            <a:ext cx="2295144" cy="4332065"/>
          </a:xfrm>
          <a:prstGeom prst="roundRect">
            <a:avLst>
              <a:gd name="adj" fmla="val 5976"/>
            </a:avLst>
          </a:prstGeom>
          <a:solidFill>
            <a:srgbClr val="15122B"/>
          </a:solidFill>
          <a:ln/>
        </p:spPr>
      </p:sp>
      <p:pic>
        <p:nvPicPr>
          <p:cNvPr id="8" name="Image 1" descr="D:\Sistemas\Lia\assets\pantalla-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88" y="1508760"/>
            <a:ext cx="2148840" cy="41857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13836" y="5859113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82716" y="1435608"/>
            <a:ext cx="2295144" cy="4332065"/>
          </a:xfrm>
          <a:prstGeom prst="roundRect">
            <a:avLst>
              <a:gd name="adj" fmla="val 5976"/>
            </a:avLst>
          </a:prstGeom>
          <a:solidFill>
            <a:srgbClr val="15122B"/>
          </a:solidFill>
          <a:ln/>
        </p:spPr>
      </p:sp>
      <p:pic>
        <p:nvPicPr>
          <p:cNvPr id="11" name="Image 2" descr="D:\Sistemas\Lia\assets\pantalla-tare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8" y="1508760"/>
            <a:ext cx="2148840" cy="418576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82716" y="5859113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651596" y="1435608"/>
            <a:ext cx="2295144" cy="4332065"/>
          </a:xfrm>
          <a:prstGeom prst="roundRect">
            <a:avLst>
              <a:gd name="adj" fmla="val 5976"/>
            </a:avLst>
          </a:prstGeom>
          <a:solidFill>
            <a:srgbClr val="15122B"/>
          </a:solidFill>
          <a:ln/>
        </p:spPr>
      </p:sp>
      <p:pic>
        <p:nvPicPr>
          <p:cNvPr id="14" name="Image 3" descr="D:\Sistemas\Lia\assets\pantalla-m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748" y="1508760"/>
            <a:ext cx="2148840" cy="418576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51596" y="5859113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DE DISEÑO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interacción con Lia</a:t>
            </a:r>
            <a:endParaRPr lang="en-US" sz="1400" dirty="0"/>
          </a:p>
        </p:txBody>
      </p:sp>
      <p:pic>
        <p:nvPicPr>
          <p:cNvPr id="4" name="Image 0" descr="D:\Sistemas\Lia\assets\flujo-intera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48" y="1783080"/>
            <a:ext cx="10972800" cy="43812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 Y NOTIFICACIONES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9808" y="1618488"/>
            <a:ext cx="1975104" cy="3928595"/>
          </a:xfrm>
          <a:prstGeom prst="roundRect">
            <a:avLst>
              <a:gd name="adj" fmla="val 5556"/>
            </a:avLst>
          </a:prstGeom>
          <a:solidFill>
            <a:srgbClr val="15122B"/>
          </a:solidFill>
          <a:ln/>
        </p:spPr>
      </p:sp>
      <p:pic>
        <p:nvPicPr>
          <p:cNvPr id="4" name="Image 0" descr="D:\Sistemas\Lia\assets\supabase-tab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1828800" cy="378229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9808" y="561109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real de Lia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91840" y="1691640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973" y="183977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977640" y="16733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Tablas independientes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977640" y="2011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Tareas, contactos, notas, gastos, usuarios y mensajes, cada una separada por tipo de información.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91840" y="2834640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973" y="2982773"/>
            <a:ext cx="252374" cy="2523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28163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restringido por fila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97764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solo ve y modifica sus propios registros, sin excepción.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291840" y="3977640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973" y="4125773"/>
            <a:ext cx="252374" cy="25237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77640" y="39593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tipos de aviso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397764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diario de pendientes y notificación exacta a la hora solicitada.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69164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96596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3839" y="2188159"/>
            <a:ext cx="378562" cy="378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566160" y="169164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89120" y="196596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19" y="2188159"/>
            <a:ext cx="378562" cy="3785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0332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086600" y="196596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799" y="2188159"/>
            <a:ext cx="378562" cy="3785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0080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961120" y="169164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784080" y="196596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279" y="2188159"/>
            <a:ext cx="378562" cy="3785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9828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Claude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68680" y="40690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691640" y="434340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839" y="4565599"/>
            <a:ext cx="378562" cy="37856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5840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566160" y="40690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389120" y="434340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319" y="4565599"/>
            <a:ext cx="378562" cy="37856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703320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API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263640" y="40690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086600" y="434340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799" y="4565599"/>
            <a:ext cx="378562" cy="37856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400800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pg_cron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8961120" y="40690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9784080" y="4343400"/>
            <a:ext cx="822960" cy="8229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6279" y="4565599"/>
            <a:ext cx="378562" cy="37856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098280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822960" y="6492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Asistente de código con IA, dirigido en cada decisión de desarrollo.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DESARROLLO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iterativo, dirigido y validado en cada etapa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38428" y="2720340"/>
            <a:ext cx="9921240" cy="0"/>
          </a:xfrm>
          <a:prstGeom prst="line">
            <a:avLst/>
          </a:prstGeom>
          <a:noFill/>
          <a:ln w="38100">
            <a:solidFill>
              <a:srgbClr val="E4E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37744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32004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 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12848" y="237744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12848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92808" y="32004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30168" y="237744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0168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10128" y="32004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47488" y="237744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47488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2004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dictado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64808" y="237744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64808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32004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82128" y="237744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82128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62088" y="32004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99448" y="237744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99448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979408" y="32004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716768" y="237744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716768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0396728" y="32004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DE DISEÑO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12.400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 de obra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16459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6.200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6459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398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/ 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534AB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3941064"/>
            <a:ext cx="658368" cy="65836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319" y="4118823"/>
            <a:ext cx="302849" cy="302849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92024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 inicial total: Bs 18.998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92024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mano de obra, materiales y funcionamiento mensual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COMERCIALIZACIÓN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suscripción mensual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134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49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usuario individual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Tareas, voz y texto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334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Notificaciones oportunas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534AB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3134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199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Hasta 5 usuarios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Todo lo de Personal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334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Panel de administración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F5F3FC"/>
          </a:solidFill>
          <a:ln w="12700">
            <a:solidFill>
              <a:srgbClr val="E4E0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3134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convenir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Organizaciones grandes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Todo lo de Oficina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334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Soporte dedicado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57400" y="1737360"/>
            <a:ext cx="914400" cy="91440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198424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el usuario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429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pendientes olvidados, dictado por voz y notificaciones oportunas sin revisar la app.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96712" y="1737360"/>
            <a:ext cx="914400" cy="91440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8424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62272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las organizaciones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599432" y="3429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administrativa sin contratar personal adicional, con acceso administrado.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336024" y="1737360"/>
            <a:ext cx="914400" cy="91440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198424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01584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Económicos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38744" y="3429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más económica que contratar personal, y menos costos por pendientes perdidos.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EMPRESAS COMPETIDORAS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1560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429768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Limitación frente a Lia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Tasks / MS To Do / Todoist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de tareas tradicional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Formularios y menús; no interpreta lenguaje natural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Siri / Google Assistant / Alexa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Asistente de voz genérico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gestiona agenda ni administra usuarios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/ Reclaim.ai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con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el calendario, no conversa; más caro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Asistente conversacional secretarial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Conversación, acceso administrado y trato formal, bajo costo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ESTRATEGIAS Y PROYECCIONES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MEJORA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205602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38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presentación (landing page)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48" y="2696108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578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Google Calendar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3336188"/>
            <a:ext cx="231343" cy="231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ampliada de correspondencia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48" y="3976268"/>
            <a:ext cx="231343" cy="231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3858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en tienda de aplicaciones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48" y="4616348"/>
            <a:ext cx="231343" cy="231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63040" y="4498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voces regionales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PROYECCIONES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588" y="2056028"/>
            <a:ext cx="231343" cy="231343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40880" y="1938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de infraestructura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400800" y="2560320"/>
            <a:ext cx="502920" cy="50292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588" y="2696108"/>
            <a:ext cx="231343" cy="231343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040880" y="2578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 otros países de habla hispana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6400800" y="3200400"/>
            <a:ext cx="502920" cy="50292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6588" y="3336188"/>
            <a:ext cx="231343" cy="231343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040880" y="3218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del plan institucional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6400800" y="3840480"/>
            <a:ext cx="502920" cy="50292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6588" y="3976268"/>
            <a:ext cx="231343" cy="231343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040880" y="3858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Reinversión continua en el producto</a:t>
            </a:r>
            <a:endParaRPr lang="en-US" sz="1250" dirty="0"/>
          </a:p>
        </p:txBody>
      </p:sp>
      <p:sp>
        <p:nvSpPr>
          <p:cNvPr id="32" name="Text 21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3C348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3200400"/>
            <a:ext cx="5486400" cy="5486400"/>
          </a:xfrm>
          <a:prstGeom prst="ellipse">
            <a:avLst/>
          </a:prstGeom>
          <a:solidFill>
            <a:srgbClr val="534AB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640080"/>
            <a:ext cx="914400" cy="9144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5536" y="8869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1691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48840"/>
            <a:ext cx="92656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 demuestra que es posible fusionar el conocimiento del secretariado ejecutivo con la inteligencia artificial, digitalizando funciones reales sin reemplazar el criterio profesional.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108960" y="403250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2900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aplicada, no una moda tecnológica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08960" y="458114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29000" y="4526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Viable: costos cubiertos por el modelo de suscripción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108960" y="512978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29000" y="5074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Diferenciada frente a toda la competencia actual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1827428"/>
            <a:ext cx="231343" cy="2313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7099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una prueba piloto con usuarios reales antes de comercializar.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53288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48" y="2668676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255117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el modelo de negocio (análisis legal y tributario).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3374136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3509924"/>
            <a:ext cx="231343" cy="23134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339242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atención constante a la seguridad y privacidad de los datos.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22960" y="4215384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48" y="4351172"/>
            <a:ext cx="231343" cy="23134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08760" y="42336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retroalimentación de forma continua.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822960" y="505663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48" y="5192420"/>
            <a:ext cx="231343" cy="23134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508760" y="5074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Fomentar este tipo de proyectos desde la formación en secretariado ejecutivo.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3C348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3200400"/>
            <a:ext cx="5486400" cy="5486400"/>
          </a:xfrm>
          <a:prstGeom prst="ellipse">
            <a:avLst/>
          </a:prstGeom>
          <a:solidFill>
            <a:srgbClr val="534AB7">
              <a:alpha val="18000"/>
            </a:srgbClr>
          </a:solidFill>
          <a:ln/>
        </p:spPr>
      </p:sp>
      <p:pic>
        <p:nvPicPr>
          <p:cNvPr id="4" name="Image 0" descr="D:\Sistemas\Lia\assets\ava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188720"/>
            <a:ext cx="1280160" cy="128016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lia-app  •  github.com/gustavougartecanaza-wq/lia-app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Lia — Defensa de Proyecto de Innovación Tecnológica</dc:title>
  <dc:subject>PptxGenJS Presentation</dc:subject>
  <dc:creator>Gustavo Ugarte</dc:creator>
  <cp:lastModifiedBy>Gustavo Ugarte</cp:lastModifiedBy>
  <cp:revision>1</cp:revision>
  <dcterms:created xsi:type="dcterms:W3CDTF">2026-09-13T04:45:01Z</dcterms:created>
  <dcterms:modified xsi:type="dcterms:W3CDTF">2026-09-13T04:45:01Z</dcterms:modified>
</cp:coreProperties>
</file>